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思维模型平台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结构化思维与AI赋能的深度思考解决方案</a:t>
            </a:r>
          </a:p>
          <a:p>
            <a:r>
              <a:t>Business Plan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项目概述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通过结构化思维和AI能力，帮助用户快速精准地完成对复杂课题的思考，</a:t>
            </a:r>
          </a:p>
          <a:p>
            <a:pPr lvl="1">
              <a:defRPr sz="1600"/>
            </a:pPr>
            <a:r>
              <a:t>或将想法落地。</a:t>
            </a:r>
          </a:p>
          <a:p>
            <a:pPr lvl="1">
              <a:defRPr sz="1600"/>
            </a:pPr>
          </a:p>
          <a:p>
            <a:pPr lvl="1">
              <a:defRPr sz="1600"/>
            </a:pPr>
            <a:r>
              <a:t>核心理念：</a:t>
            </a:r>
          </a:p>
          <a:p>
            <a:pPr lvl="1">
              <a:defRPr sz="1600"/>
            </a:pPr>
            <a:r>
              <a:t>• 结构化思维工具</a:t>
            </a:r>
          </a:p>
          <a:p>
            <a:pPr lvl="1">
              <a:defRPr sz="1600"/>
            </a:pPr>
            <a:r>
              <a:t>• AI智能引导</a:t>
            </a:r>
          </a:p>
          <a:p>
            <a:pPr lvl="1">
              <a:defRPr sz="1600"/>
            </a:pPr>
            <a:r>
              <a:t>• 深度思考促进</a:t>
            </a:r>
          </a:p>
          <a:p>
            <a:pPr lvl="1">
              <a:defRPr sz="1600"/>
            </a:pPr>
            <a:r>
              <a:t>• 解决方案导向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核心功能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1. 思维模型市场</a:t>
            </a:r>
          </a:p>
          <a:p>
            <a:pPr lvl="1">
              <a:defRPr sz="1400"/>
            </a:pPr>
            <a:r>
              <a:t>   • 提供精打细磨的思维模型模板</a:t>
            </a:r>
          </a:p>
          <a:p>
            <a:pPr lvl="1">
              <a:defRPr sz="1400"/>
            </a:pPr>
            <a:r>
              <a:t>   • 用户可上传模型并自主定价</a:t>
            </a:r>
          </a:p>
          <a:p>
            <a:pPr>
              <a:defRPr sz="1600"/>
            </a:pPr>
          </a:p>
          <a:p>
            <a:pPr lvl="1">
              <a:defRPr sz="1400"/>
            </a:pPr>
            <a:r>
              <a:t>2. 我的课题</a:t>
            </a:r>
          </a:p>
          <a:p>
            <a:pPr lvl="1">
              <a:defRPr sz="1400"/>
            </a:pPr>
            <a:r>
              <a:t>   • 记录个人思考课题</a:t>
            </a:r>
          </a:p>
          <a:p>
            <a:pPr lvl="1">
              <a:defRPr sz="1400"/>
            </a:pPr>
            <a:r>
              <a:t>   • 选用多个思维模型辅助分析</a:t>
            </a:r>
          </a:p>
          <a:p>
            <a:pPr lvl="1">
              <a:defRPr sz="1400"/>
            </a:pPr>
            <a:r>
              <a:t>   • AI引导深度思考，导向解决方案</a:t>
            </a:r>
          </a:p>
          <a:p>
            <a:pPr>
              <a:defRPr sz="1600"/>
            </a:pPr>
          </a:p>
          <a:p>
            <a:pPr lvl="1">
              <a:defRPr sz="1400"/>
            </a:pPr>
            <a:r>
              <a:t>3. 思维碰撞</a:t>
            </a:r>
          </a:p>
          <a:p>
            <a:pPr lvl="1">
              <a:defRPr sz="1400"/>
            </a:pPr>
            <a:r>
              <a:t>   • 公共讨论空间</a:t>
            </a:r>
          </a:p>
          <a:p>
            <a:pPr lvl="1">
              <a:defRPr sz="1400"/>
            </a:pPr>
            <a:r>
              <a:t>   • 思想交流与碰撞</a:t>
            </a:r>
          </a:p>
          <a:p>
            <a:pPr>
              <a:defRPr sz="1600"/>
            </a:pPr>
          </a:p>
          <a:p>
            <a:pPr lvl="1">
              <a:defRPr sz="1400"/>
            </a:pPr>
            <a:r>
              <a:t>4. 找人聊聊</a:t>
            </a:r>
          </a:p>
          <a:p>
            <a:pPr lvl="1">
              <a:defRPr sz="1400"/>
            </a:pPr>
            <a:r>
              <a:t>   • 发布话题和地点</a:t>
            </a:r>
          </a:p>
          <a:p>
            <a:pPr lvl="1">
              <a:defRPr sz="1400"/>
            </a:pPr>
            <a:r>
              <a:t>   • 选择咖啡费用承担方式</a:t>
            </a:r>
          </a:p>
          <a:p>
            <a:pPr lvl="1">
              <a:defRPr sz="1400"/>
            </a:pPr>
            <a:r>
              <a:t>   • 线下面对面交流</a:t>
            </a:r>
          </a:p>
          <a:p>
            <a:pPr>
              <a:defRPr sz="1600"/>
            </a:pPr>
          </a:p>
          <a:p>
            <a:pPr lvl="1">
              <a:defRPr sz="1400"/>
            </a:pPr>
            <a:r>
              <a:t>5. 找自己</a:t>
            </a:r>
          </a:p>
          <a:p>
            <a:pPr lvl="1">
              <a:defRPr sz="1400"/>
            </a:pPr>
            <a:r>
              <a:t>   • 个人思想展示</a:t>
            </a:r>
          </a:p>
          <a:p>
            <a:pPr lvl="1">
              <a:defRPr sz="1400"/>
            </a:pPr>
            <a:r>
              <a:t>   • 当前思考课题分享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目标用户群体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1. 深度思考者</a:t>
            </a:r>
          </a:p>
          <a:p>
            <a:pPr lvl="1">
              <a:defRPr sz="1600"/>
            </a:pPr>
            <a:r>
              <a:t>   • 关注个人成长、人生规划</a:t>
            </a:r>
          </a:p>
          <a:p>
            <a:pPr lvl="1">
              <a:defRPr sz="1600"/>
            </a:pPr>
            <a:r>
              <a:t>   • 面临职业转折、人生成长课题</a:t>
            </a:r>
          </a:p>
          <a:p>
            <a:pPr>
              <a:defRPr sz="1200"/>
            </a:pPr>
          </a:p>
          <a:p>
            <a:pPr lvl="1">
              <a:defRPr sz="1600"/>
            </a:pPr>
            <a:r>
              <a:t>2. 创业者及企业管理者</a:t>
            </a:r>
          </a:p>
          <a:p>
            <a:pPr lvl="1">
              <a:defRPr sz="1600"/>
            </a:pPr>
            <a:r>
              <a:t>   • 需要解决工作SOP问题</a:t>
            </a:r>
          </a:p>
          <a:p>
            <a:pPr lvl="1">
              <a:defRPr sz="1600"/>
            </a:pPr>
            <a:r>
              <a:t>   • 寻求长期问题的根本性解决方案</a:t>
            </a:r>
          </a:p>
          <a:p>
            <a:pPr lvl="1">
              <a:defRPr sz="1600"/>
            </a:pPr>
            <a:r>
              <a:t>   • 探索企业发展方向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商业模式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收入来源：</a:t>
            </a:r>
          </a:p>
          <a:p>
            <a:pPr>
              <a:defRPr sz="1000"/>
            </a:pPr>
          </a:p>
          <a:p>
            <a:pPr lvl="1">
              <a:defRPr sz="1600"/>
            </a:pPr>
            <a:r>
              <a:t>• 免费用户：每周10次AI对话名额</a:t>
            </a:r>
          </a:p>
          <a:p>
            <a:pPr lvl="1">
              <a:defRPr sz="1600"/>
            </a:pPr>
            <a:r>
              <a:t>• 年度付费用户：89元/年</a:t>
            </a:r>
          </a:p>
          <a:p>
            <a:pPr lvl="1">
              <a:defRPr sz="1600"/>
            </a:pPr>
            <a:r>
              <a:t>• 终生用户：399元</a:t>
            </a:r>
          </a:p>
          <a:p>
            <a:pPr lvl="1">
              <a:defRPr sz="1600"/>
            </a:pPr>
            <a:r>
              <a:t>• 企业用户：20元/席位/月</a:t>
            </a:r>
          </a:p>
          <a:p>
            <a:pPr>
              <a:defRPr sz="1000"/>
            </a:pPr>
          </a:p>
          <a:p>
            <a:pPr lvl="1">
              <a:defRPr sz="1600"/>
            </a:pPr>
            <a:r>
              <a:t>附加收入：</a:t>
            </a:r>
          </a:p>
          <a:p>
            <a:pPr lvl="1">
              <a:defRPr sz="1600"/>
            </a:pPr>
            <a:r>
              <a:t>• 模型市场抽成（10-20%）</a:t>
            </a:r>
          </a:p>
          <a:p>
            <a:pPr lvl="1">
              <a:defRPr sz="1600"/>
            </a:pPr>
            <a:r>
              <a:t>• 广告收入</a:t>
            </a:r>
          </a:p>
          <a:p>
            <a:pPr lvl="1">
              <a:defRPr sz="1600"/>
            </a:pPr>
            <a:r>
              <a:t>• 高级功能（专家咨询、定制模型）</a:t>
            </a:r>
          </a:p>
          <a:p>
            <a:pPr lvl="1">
              <a:defRPr sz="1600"/>
            </a:pPr>
            <a:r>
              <a:t>• 线下活动收费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技术架构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技术栈：</a:t>
            </a:r>
          </a:p>
          <a:p>
            <a:pPr lvl="1">
              <a:defRPr sz="1400"/>
            </a:pPr>
          </a:p>
          <a:p>
            <a:pPr>
              <a:defRPr sz="1600"/>
            </a:pPr>
            <a:r>
              <a:t>后端：GoLang + Gin</a:t>
            </a:r>
          </a:p>
          <a:p>
            <a:pPr>
              <a:defRPr sz="1600"/>
            </a:pPr>
            <a:r>
              <a:t>   • 高性能、高并发</a:t>
            </a:r>
          </a:p>
          <a:p>
            <a:pPr>
              <a:defRPr sz="1600"/>
            </a:pPr>
            <a:r>
              <a:t>   • 适合API服务</a:t>
            </a:r>
          </a:p>
          <a:p>
            <a:pPr lvl="1">
              <a:defRPr sz="1400"/>
            </a:pPr>
          </a:p>
          <a:p>
            <a:pPr>
              <a:defRPr sz="1600"/>
            </a:pPr>
            <a:r>
              <a:t>前端：Vue + Element Plus</a:t>
            </a:r>
          </a:p>
          <a:p>
            <a:pPr>
              <a:defRPr sz="1600"/>
            </a:pPr>
            <a:r>
              <a:t>   • 生态成熟</a:t>
            </a:r>
          </a:p>
          <a:p>
            <a:pPr>
              <a:defRPr sz="1600"/>
            </a:pPr>
            <a:r>
              <a:t>   • 开发效率高</a:t>
            </a:r>
          </a:p>
          <a:p>
            <a:pPr lvl="1">
              <a:defRPr sz="1400"/>
            </a:pPr>
          </a:p>
          <a:p>
            <a:pPr>
              <a:defRPr sz="1600"/>
            </a:pPr>
            <a:r>
              <a:t>数据库：MySQL + Redis</a:t>
            </a:r>
          </a:p>
          <a:p>
            <a:pPr>
              <a:defRPr sz="1600"/>
            </a:pPr>
            <a:r>
              <a:t>   • 数据一致性好</a:t>
            </a:r>
          </a:p>
          <a:p>
            <a:pPr>
              <a:defRPr sz="1600"/>
            </a:pPr>
            <a:r>
              <a:t>   • 读写性能优秀</a:t>
            </a:r>
          </a:p>
          <a:p>
            <a:pPr lvl="1">
              <a:defRPr sz="1400"/>
            </a:pPr>
          </a:p>
          <a:p>
            <a:pPr>
              <a:defRPr sz="1600"/>
            </a:pPr>
            <a:r>
              <a:t>AI服务：Kim2.5 / Minimax</a:t>
            </a:r>
          </a:p>
          <a:p>
            <a:pPr>
              <a:defRPr sz="1600"/>
            </a:pPr>
            <a:r>
              <a:t>   • 即插即用</a:t>
            </a:r>
          </a:p>
          <a:p>
            <a:pPr>
              <a:defRPr sz="1600"/>
            </a:pPr>
            <a:r>
              <a:t>   • 无需自建模型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开发路线图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阶段一：Web服务</a:t>
            </a:r>
          </a:p>
          <a:p>
            <a:pPr>
              <a:defRPr sz="1600"/>
            </a:pPr>
            <a:r>
              <a:t>   • MVP版本开发</a:t>
            </a:r>
          </a:p>
          <a:p>
            <a:pPr>
              <a:defRPr sz="1600"/>
            </a:pPr>
            <a:r>
              <a:t>   • 验证核心功能</a:t>
            </a:r>
          </a:p>
          <a:p>
            <a:pPr>
              <a:defRPr sz="1600"/>
            </a:pPr>
            <a:r>
              <a:t>   • 获取早期用户反馈</a:t>
            </a:r>
          </a:p>
          <a:p>
            <a:pPr>
              <a:defRPr sz="1000"/>
            </a:pPr>
          </a:p>
          <a:p>
            <a:pPr>
              <a:defRPr sz="1600"/>
            </a:pPr>
            <a:r>
              <a:t>阶段二：APP应用</a:t>
            </a:r>
          </a:p>
          <a:p>
            <a:pPr>
              <a:defRPr sz="1600"/>
            </a:pPr>
            <a:r>
              <a:t>   • 移动端适配</a:t>
            </a:r>
          </a:p>
          <a:p>
            <a:pPr>
              <a:defRPr sz="1600"/>
            </a:pPr>
            <a:r>
              <a:t>   • 便捷随时随地思考</a:t>
            </a:r>
          </a:p>
          <a:p>
            <a:pPr>
              <a:defRPr sz="1000"/>
            </a:pPr>
          </a:p>
          <a:p>
            <a:pPr>
              <a:defRPr sz="1600"/>
            </a:pPr>
            <a:r>
              <a:t>阶段三：桌面端</a:t>
            </a:r>
          </a:p>
          <a:p>
            <a:pPr>
              <a:defRPr sz="1600"/>
            </a:pPr>
            <a:r>
              <a:t>   • 提供强大创作功能</a:t>
            </a:r>
          </a:p>
          <a:p>
            <a:pPr>
              <a:defRPr sz="1600"/>
            </a:pPr>
            <a:r>
              <a:t>   • 专业用户深度使用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>
                <a:solidFill>
                  <a:srgbClr val="003366"/>
                </a:solidFill>
              </a:defRPr>
            </a:pPr>
            <a:r>
              <a:t>成本与收益分析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启动阶段（月度）：</a:t>
            </a:r>
          </a:p>
          <a:p>
            <a:pPr>
              <a:defRPr sz="1600"/>
            </a:pPr>
            <a:r>
              <a:t>技术成本：约2,000元</a:t>
            </a:r>
          </a:p>
          <a:p>
            <a:pPr>
              <a:defRPr sz="1600"/>
            </a:pPr>
            <a:r>
              <a:t>运营成本：约20,000元</a:t>
            </a:r>
          </a:p>
          <a:p>
            <a:pPr>
              <a:defRPr sz="1600"/>
            </a:pPr>
            <a:r>
              <a:t>总成本：约22,000元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收入预测（100用户，5%付费率）：</a:t>
            </a:r>
          </a:p>
          <a:p>
            <a:pPr>
              <a:defRPr sz="1600"/>
            </a:pPr>
            <a:r>
              <a:t>月收入：约370元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成熟阶段（月度）：</a:t>
            </a:r>
          </a:p>
          <a:p>
            <a:pPr>
              <a:defRPr sz="1600"/>
            </a:pPr>
            <a:r>
              <a:t>5000用户，8%付费率：</a:t>
            </a:r>
          </a:p>
          <a:p>
            <a:pPr>
              <a:defRPr sz="1600"/>
            </a:pPr>
            <a:r>
              <a:t>月收入：约29,667元</a:t>
            </a:r>
          </a:p>
          <a:p>
            <a:pPr>
              <a:defRPr sz="1600"/>
            </a:pPr>
            <a:r>
              <a:t>接近盈亏平衡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>
                <a:solidFill>
                  <a:srgbClr val="003366"/>
                </a:solidFill>
              </a:defRPr>
            </a:pPr>
            <a:r>
              <a:t>让思维更有结构，让思考更加深入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666666"/>
                </a:solidFill>
              </a:defRPr>
            </a:pPr>
            <a:r>
              <a:t>思维模型平台 - 助力每个人成为更好的思考者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